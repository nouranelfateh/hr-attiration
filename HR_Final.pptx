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D6E4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E4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E4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5F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SVM</c:v>
                  </c:pt>
                  <c:pt idx="3">
                    <c:v>Random
Forest 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76.72</c:v>
                </c:pt>
                <c:pt idx="1">
                  <c:v>80.16</c:v>
                </c:pt>
                <c:pt idx="2">
                  <c:v>91.9</c:v>
                </c:pt>
                <c:pt idx="3">
                  <c:v>98.38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9D3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· ANALYTICS · MACHINE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05840" y="10515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3200400" cy="36576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Machine Learning &amp;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3950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Nouran Mohamed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Shimaa Gamal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3749040"/>
            <a:ext cx="16459" cy="548640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Dataset  ·  1,470 Employees  ·  35 Features  ·  February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193852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005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76072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22960"/>
            <a:ext cx="193852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005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79192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Attrition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22960"/>
            <a:ext cx="193852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005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82312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8229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822960"/>
            <a:ext cx="1938528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005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98.38%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85432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46888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468880"/>
            <a:ext cx="397764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2944368"/>
            <a:ext cx="3474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99232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is one of the most costly HR challenges. With a 16.1% attrition rate — above the industry average of 10–12% — the organization is losing talent and spending heavily on recruitment and retraining.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are currently reactive: they only find out an employee is leaving when it is already too late. There is no system in place to detect at-risk employees in advance.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68880"/>
            <a:ext cx="397764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944368"/>
            <a:ext cx="3474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99923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1,470 records across 35 features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drivers of attrition via ML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exceeding 85% accuracy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findings in an interactive Power BI dashboard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prioritized, actionable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1371600"/>
            <a:ext cx="128016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22960"/>
            <a:ext cx="15727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22960"/>
            <a:ext cx="157276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9875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39496" y="1508760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59105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" y="2505456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578608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Dataset — 1,470 employees, 35 features covering demographics, job info, satisfaction &amp; performance.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85032" y="1371600"/>
            <a:ext cx="128016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12264" y="822960"/>
            <a:ext cx="15727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12264" y="822960"/>
            <a:ext cx="157276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9875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240280" y="1508760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159105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40280" y="2505456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578608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distributions &amp; correlations. Handled class imbalance via oversampling of the minority (attrited) class.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85816" y="1371600"/>
            <a:ext cx="128016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3048" y="822960"/>
            <a:ext cx="15727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13048" y="822960"/>
            <a:ext cx="157276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9875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941064" y="1508760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159105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41064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41064" y="2505456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2578608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categoricals, scaled numerics, selected top predictors using feature importance scores.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1371600"/>
            <a:ext cx="128016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822960"/>
            <a:ext cx="15727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13832" y="822960"/>
            <a:ext cx="1572768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9875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5641848" y="1508760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848" y="159105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41848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41848" y="2505456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41848" y="2578608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Logistic Regression, Decision Tree, SVM &amp; Random Forest. Random Forest achieved 98.38%.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14616" y="822960"/>
            <a:ext cx="157276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14616" y="822960"/>
            <a:ext cx="157276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42632" y="9875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7342632" y="1508760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42632" y="159105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42632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42632" y="2505456"/>
            <a:ext cx="117043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42632" y="2578608"/>
            <a:ext cx="1371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4-page interactive dashboard with Key Influencers, Decomposition Tree &amp; drill-through filters.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804672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804672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804672"/>
            <a:ext cx="2743200" cy="502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9632" y="923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996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0" y="8961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76.72%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035040" y="1810512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1810512"/>
            <a:ext cx="2743200" cy="502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929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9632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80.16%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035040" y="2816352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2816352"/>
            <a:ext cx="274320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29352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9632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29077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91.90%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035040" y="3822192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3822192"/>
            <a:ext cx="27432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9632" y="3941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⭐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99632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315200" y="39136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98.38%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035040" y="4818888"/>
            <a:ext cx="2743200" cy="246888"/>
          </a:xfrm>
          <a:prstGeom prst="rect">
            <a:avLst/>
          </a:prstGeom>
          <a:solidFill>
            <a:srgbClr val="D6E4F7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48188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85%  ·  Achieved: 98.38% 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265176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9326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86968" y="9326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= #1 Driver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" y="1243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leave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" y="1920240"/>
            <a:ext cx="228600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975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OT are 3× more likely to resign — the single strongest predictor in both the ML model and Power BI Key Influencers.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8046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804672"/>
            <a:ext cx="265176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9326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67328" y="9326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Employees at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38144" y="1243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38144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attrition 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38144" y="1920240"/>
            <a:ext cx="228600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1975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21 or below show the highest attrition. Lack of growth visibility and low engagement drive early departures.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8046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804672"/>
            <a:ext cx="265176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9326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47688" y="9326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Predicts Leaving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1243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18504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risk zone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18504" y="1920240"/>
            <a:ext cx="228600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975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at or below $2,800/month is a strong predictor. Level 1–2 staff are most vulnerable to better-paying external offers.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47088" y="28346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47088" y="2834640"/>
            <a:ext cx="265176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29626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22576" y="29626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Years Are Critical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93392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yrs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993392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window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93392" y="3950208"/>
            <a:ext cx="228600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3392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years carry the highest risk. Employees haven't yet built deep ties, career investment, or cultural attachment.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27448" y="28346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27448" y="2834640"/>
            <a:ext cx="265176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29626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02936" y="29626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 Across Board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73752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873752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satisfaction types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73752" y="3950208"/>
            <a:ext cx="228600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0050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job, environment &amp; relationship satisfaction consistently predicts attrition — measurable early-warning signals.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40416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404164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32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1463040"/>
            <a:ext cx="354787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51790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Department, Distance from Home, Years at Company &amp; Marital Status. R&amp;D has the highest absolute count.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2468880"/>
            <a:ext cx="3749040" cy="2194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68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Filters: Dept · Gender · Job Role · Work-Life Balance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804672"/>
            <a:ext cx="40416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04672"/>
            <a:ext cx="4041648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932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65192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 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65192" y="1463040"/>
            <a:ext cx="354787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51790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Gender, Overtime impact, MonthlyIncome vs YearsAtCompany scatter, Job Satisfaction donut.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65192" y="2468880"/>
            <a:ext cx="3749040" cy="2194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468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Males show higher absolute attrition count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953512"/>
            <a:ext cx="40416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953512"/>
            <a:ext cx="4041648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081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" y="3264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" y="3611880"/>
            <a:ext cx="354787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66674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identifying top factors. Age ≤21 makes employees 5.55× more likely to leave. OT, income &amp; marital status follow.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" y="4617720"/>
            <a:ext cx="3749040" cy="2194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617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Age ≤21  →  5.55× more likely to leave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2953512"/>
            <a:ext cx="404164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953512"/>
            <a:ext cx="4041648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081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65192" y="3264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65192" y="3611880"/>
            <a:ext cx="3547872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66674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breakdown drilled through Dept → Years at Company → Overtime → Job Satisfaction to surface root causes.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65192" y="4617720"/>
            <a:ext cx="3749040" cy="2194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4617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Sales has the highest attrition among departments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 ·  Filters: Department · Gender · YearsAtCompany · JobRole · WorkLifeBalance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04672"/>
            <a:ext cx="269748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50976"/>
            <a:ext cx="804672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464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Overtime Hours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4650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OT limits. Offer compensatory time off. Monitor per department monthly.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80467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804672"/>
            <a:ext cx="269748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950976"/>
            <a:ext cx="804672" cy="219456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9464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10712" y="1261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Raise Salaries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10712" y="169164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74650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Level 1–2 pay against market. Prioritize raises for those earning ≤$2,800/month.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5624" y="80467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804672"/>
            <a:ext cx="269748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950976"/>
            <a:ext cx="804672" cy="219456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94640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72784" y="1261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Satisfaction Surveys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2784" y="169164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4650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surveys every quarter. Act within 30 days. Track scores as early-warning KPIs.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90779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907792"/>
            <a:ext cx="2697480" cy="50292"/>
          </a:xfrm>
          <a:prstGeom prst="rect">
            <a:avLst/>
          </a:prstGeom>
          <a:solidFill>
            <a:srgbClr val="7A8499"/>
          </a:solidFill>
          <a:ln w="12700">
            <a:solidFill>
              <a:srgbClr val="7A84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054096"/>
            <a:ext cx="804672" cy="219456"/>
          </a:xfrm>
          <a:prstGeom prst="rect">
            <a:avLst/>
          </a:prstGeom>
          <a:solidFill>
            <a:srgbClr val="7A8499"/>
          </a:solidFill>
          <a:ln w="12700">
            <a:solidFill>
              <a:srgbClr val="7A84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4952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3364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Progression Paths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4962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promotion criteria. Set 6-month &amp; 12-month milestones for all new hires.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73552" y="290779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73552" y="2907792"/>
            <a:ext cx="2697480" cy="50292"/>
          </a:xfrm>
          <a:prstGeom prst="rect">
            <a:avLst/>
          </a:prstGeom>
          <a:solidFill>
            <a:srgbClr val="7A8499"/>
          </a:solidFill>
          <a:ln w="12700">
            <a:solidFill>
              <a:srgbClr val="7A84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0712" y="3054096"/>
            <a:ext cx="804672" cy="219456"/>
          </a:xfrm>
          <a:prstGeom prst="rect">
            <a:avLst/>
          </a:prstGeom>
          <a:solidFill>
            <a:srgbClr val="7A8499"/>
          </a:solidFill>
          <a:ln w="12700">
            <a:solidFill>
              <a:srgbClr val="7A84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04952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410712" y="3364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Buddy Program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10712" y="379476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384962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senior mentors to new hires for 6 months — targeting the critical 0–2 year window.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35624" y="2907792"/>
            <a:ext cx="26974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35624" y="2907792"/>
            <a:ext cx="2697480" cy="502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2784" y="3054096"/>
            <a:ext cx="804672" cy="2194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304952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72784" y="3364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Attrition Alerts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72784" y="3794760"/>
            <a:ext cx="23317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849624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in HR systems. Flag at-risk employees monthly for proactive action.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395728"/>
            <a:ext cx="2011680" cy="36576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attrition insights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retention strategy.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98.38% accuracy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attrition drivers identified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prioritized action items defined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 delivered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7365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Nouran Mohamed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Shimaa Gamal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77640" y="320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77640" y="658368"/>
            <a:ext cx="484632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804672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77640" y="804672"/>
            <a:ext cx="214884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9875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142232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42232" y="2029968"/>
            <a:ext cx="16916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804672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804672"/>
            <a:ext cx="214884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9875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611112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Drivers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11112" y="2029968"/>
            <a:ext cx="16916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· Age · Income · Tenure · Satisfaction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77640" y="288036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2880360"/>
            <a:ext cx="214884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42232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142232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42232" y="4105656"/>
            <a:ext cx="16916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Future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46520" y="288036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2880360"/>
            <a:ext cx="2148840" cy="502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611112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11112" y="4105656"/>
            <a:ext cx="1691640" cy="16459"/>
          </a:xfrm>
          <a:prstGeom prst="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&amp; Filter-Enabled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77640" y="4892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·  IBM HR Analytics Dataset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</dc:title>
  <dc:subject>PptxGenJS Presentation</dc:subject>
  <dc:creator>PptxGenJS</dc:creator>
  <cp:lastModifiedBy>PptxGenJS</cp:lastModifiedBy>
  <cp:revision>1</cp:revision>
  <dcterms:created xsi:type="dcterms:W3CDTF">2026-02-21T01:13:56Z</dcterms:created>
  <dcterms:modified xsi:type="dcterms:W3CDTF">2026-02-21T01:13:56Z</dcterms:modified>
</cp:coreProperties>
</file>